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oboto"/>
      <p:regular r:id="rId15"/>
      <p:bold r:id="rId16"/>
      <p:italic r:id="rId17"/>
      <p:boldItalic r:id="rId18"/>
    </p:embeddedFont>
    <p:embeddedFont>
      <p:font typeface="Montserrat"/>
      <p:regular r:id="rId19"/>
      <p:bold r:id="rId20"/>
      <p:italic r:id="rId21"/>
      <p:boldItalic r:id="rId22"/>
    </p:embeddedFont>
    <p:embeddedFont>
      <p:font typeface="La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old.fntdata"/><Relationship Id="rId22" Type="http://schemas.openxmlformats.org/officeDocument/2006/relationships/font" Target="fonts/Montserrat-boldItalic.fntdata"/><Relationship Id="rId21" Type="http://schemas.openxmlformats.org/officeDocument/2006/relationships/font" Target="fonts/Montserrat-italic.fntdata"/><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Italic.fntdata"/><Relationship Id="rId25"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Roboto-regular.fntdata"/><Relationship Id="rId14" Type="http://schemas.openxmlformats.org/officeDocument/2006/relationships/slide" Target="slides/slide9.xml"/><Relationship Id="rId17" Type="http://schemas.openxmlformats.org/officeDocument/2006/relationships/font" Target="fonts/Roboto-italic.fntdata"/><Relationship Id="rId16" Type="http://schemas.openxmlformats.org/officeDocument/2006/relationships/font" Target="fonts/Roboto-bold.fntdata"/><Relationship Id="rId19" Type="http://schemas.openxmlformats.org/officeDocument/2006/relationships/font" Target="fonts/Montserrat-regular.fntdata"/><Relationship Id="rId18" Type="http://schemas.openxmlformats.org/officeDocument/2006/relationships/font" Target="fonts/Robot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cab8e859cd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cab8e859cd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cab8e859cd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cab8e859cd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cab8e859cd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cab8e859cd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cab8e859cd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cab8e859cd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cab8e859cd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cab8e859cd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cab8e859cd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cab8e859cd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cab8e859cd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cab8e859cd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cab8e859c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cab8e859c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cybercademy.org/project-idea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cybercademy.org/beginner-projects/" TargetMode="External"/><Relationship Id="rId4" Type="http://schemas.openxmlformats.org/officeDocument/2006/relationships/hyperlink" Target="https://github.com/cadithealth/passwordmeter" TargetMode="External"/><Relationship Id="rId11" Type="http://schemas.openxmlformats.org/officeDocument/2006/relationships/hyperlink" Target="https://www.sciencedirect.com/science/article/abs/pii/S2214212618305027python" TargetMode="External"/><Relationship Id="rId10" Type="http://schemas.openxmlformats.org/officeDocument/2006/relationships/hyperlink" Target="https://www.sciencedirect.com/science/article/abs/pii/S2214212618305027python" TargetMode="External"/><Relationship Id="rId12" Type="http://schemas.openxmlformats.org/officeDocument/2006/relationships/hyperlink" Target="https://www.sciencedirect.com/science/article/abs/pii/S2214212618305027python" TargetMode="External"/><Relationship Id="rId9" Type="http://schemas.openxmlformats.org/officeDocument/2006/relationships/hyperlink" Target="https://www.sciencedirect.com/science/article/abs/pii/S2214212618305027python" TargetMode="External"/><Relationship Id="rId5" Type="http://schemas.openxmlformats.org/officeDocument/2006/relationships/hyperlink" Target="https://www.youtube.com/watch?v=-C5g4J7iCj8" TargetMode="External"/><Relationship Id="rId6" Type="http://schemas.openxmlformats.org/officeDocument/2006/relationships/hyperlink" Target="https://www.verizon.com/business/en-nl/resources/reports/dbir/" TargetMode="External"/><Relationship Id="rId7" Type="http://schemas.openxmlformats.org/officeDocument/2006/relationships/hyperlink" Target="https://www.datacamp.com/blog/python-2-vs-3-everything-you-need-to-know" TargetMode="External"/><Relationship Id="rId8" Type="http://schemas.openxmlformats.org/officeDocument/2006/relationships/hyperlink" Target="https://www.sciencedirect.com/science/article/abs/pii/S2214212618305027pytho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Python Password</a:t>
            </a:r>
            <a:endParaRPr/>
          </a:p>
          <a:p>
            <a:pPr indent="0" lvl="0" marL="0" rtl="0" algn="l">
              <a:spcBef>
                <a:spcPts val="0"/>
              </a:spcBef>
              <a:spcAft>
                <a:spcPts val="0"/>
              </a:spcAft>
              <a:buNone/>
            </a:pPr>
            <a:r>
              <a:rPr lang="en"/>
              <a:t>Wizard</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By: Alex, Andrew, and Will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555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1520"/>
              <a:t>Python Password Wizard: Crafting Dynamic and Secure Passwords</a:t>
            </a:r>
            <a:endParaRPr sz="1520"/>
          </a:p>
        </p:txBody>
      </p:sp>
      <p:sp>
        <p:nvSpPr>
          <p:cNvPr id="141" name="Google Shape;141;p14"/>
          <p:cNvSpPr txBox="1"/>
          <p:nvPr>
            <p:ph idx="1" type="body"/>
          </p:nvPr>
        </p:nvSpPr>
        <p:spPr>
          <a:xfrm>
            <a:off x="1297500" y="1082900"/>
            <a:ext cx="7038900" cy="3870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-We chose this topic </a:t>
            </a:r>
            <a:r>
              <a:rPr lang="en"/>
              <a:t>initially</a:t>
            </a:r>
            <a:r>
              <a:rPr lang="en"/>
              <a:t> for a couple of reasons. So much of what we have done in this course is either the result of or directly interacting with weak passwords. Andrew witnessed at SecureWorld conference  in Houston that it is a main topic of conversation of the industry.</a:t>
            </a:r>
            <a:br>
              <a:rPr lang="en"/>
            </a:br>
            <a:r>
              <a:rPr lang="en"/>
              <a:t>(Fun Fact, Verizon’s 2023 Data Breach Investigations Report states that 86% of breaches happen because of lost or stolen credentials.)</a:t>
            </a:r>
            <a:endParaRPr/>
          </a:p>
          <a:p>
            <a:pPr indent="0" lvl="0" marL="0" rtl="0" algn="l">
              <a:spcBef>
                <a:spcPts val="1200"/>
              </a:spcBef>
              <a:spcAft>
                <a:spcPts val="0"/>
              </a:spcAft>
              <a:buNone/>
            </a:pPr>
            <a:r>
              <a:rPr lang="en"/>
              <a:t>-This project is meant to be an option in a company’s security policy and procedures. This allows employees to be more efficient  when creating a strong password . As weak or lazily written password are much easier to brute force.</a:t>
            </a:r>
            <a:br>
              <a:rPr lang="en"/>
            </a:br>
            <a:r>
              <a:rPr lang="en"/>
              <a:t>(Fun Fact, it is commonly held that it will take 34,000 years to crack a 12 digit password with uppercase letters, lowercase letters, numbers, and special characters.)</a:t>
            </a:r>
            <a:endParaRPr/>
          </a:p>
          <a:p>
            <a:pPr indent="0" lvl="0" marL="0" rtl="0" algn="l">
              <a:spcBef>
                <a:spcPts val="1200"/>
              </a:spcBef>
              <a:spcAft>
                <a:spcPts val="1200"/>
              </a:spcAft>
              <a:buNone/>
            </a:pPr>
            <a:r>
              <a:rPr lang="en"/>
              <a:t>-Research Ideas Were sparked by using    </a:t>
            </a:r>
            <a:r>
              <a:rPr lang="en" u="sng">
                <a:solidFill>
                  <a:schemeClr val="hlink"/>
                </a:solidFill>
                <a:hlinkClick r:id="rId3"/>
              </a:rPr>
              <a:t>https://cybercademy.org/project-ideas/</a:t>
            </a:r>
            <a:br>
              <a:rPr lang="en"/>
            </a:br>
            <a:r>
              <a:rPr lang="en"/>
              <a:t>We found a video that gave us an example of the type of syntax we would need to do when writing. Then we needed to do research on the </a:t>
            </a:r>
            <a:r>
              <a:rPr lang="en"/>
              <a:t>differences</a:t>
            </a:r>
            <a:r>
              <a:rPr lang="en"/>
              <a:t> </a:t>
            </a:r>
            <a:r>
              <a:rPr lang="en"/>
              <a:t>between</a:t>
            </a:r>
            <a:r>
              <a:rPr lang="en"/>
              <a:t> </a:t>
            </a:r>
            <a:r>
              <a:rPr lang="en"/>
              <a:t>versions of python so that we could understand why our code and the source needed to be so different. </a:t>
            </a:r>
            <a:r>
              <a:rPr lang="en"/>
              <a:t> Then we further did research into how often weak passwords are involved in data breaches. We also needed to do a fair bit of research into python script-writing, as we hit a few roadblocks in our project.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Demonstration Preview</a:t>
            </a:r>
            <a:endParaRPr/>
          </a:p>
        </p:txBody>
      </p:sp>
      <p:sp>
        <p:nvSpPr>
          <p:cNvPr id="147" name="Google Shape;147;p15"/>
          <p:cNvSpPr txBox="1"/>
          <p:nvPr>
            <p:ph idx="1" type="body"/>
          </p:nvPr>
        </p:nvSpPr>
        <p:spPr>
          <a:xfrm>
            <a:off x="1297500" y="1039025"/>
            <a:ext cx="7038900" cy="34158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Font typeface="Arial"/>
              <a:buChar char="-"/>
            </a:pPr>
            <a:r>
              <a:rPr lang="en" sz="1500">
                <a:latin typeface="Arial"/>
                <a:ea typeface="Arial"/>
                <a:cs typeface="Arial"/>
                <a:sym typeface="Arial"/>
              </a:rPr>
              <a:t>Installed passwordmeter - using Sudo apt install passwordmeter.</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Running  python --version to see which python we were running which gave 3.8.4. </a:t>
            </a:r>
            <a:r>
              <a:rPr lang="en" sz="1500">
                <a:latin typeface="Arial"/>
                <a:ea typeface="Arial"/>
                <a:cs typeface="Arial"/>
                <a:sym typeface="Arial"/>
              </a:rPr>
              <a:t>a</a:t>
            </a:r>
            <a:r>
              <a:rPr lang="en" sz="1500">
                <a:latin typeface="Arial"/>
                <a:ea typeface="Arial"/>
                <a:cs typeface="Arial"/>
                <a:sym typeface="Arial"/>
              </a:rPr>
              <a:t>nd 3.11.6 on other VMs.</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Then we ran python3 in our terminal (interface).</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We ran import passwordmeter inside the Python3 interface.</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After Exiting the Python interface we moved into our Python folder.</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We had to Sudo apt install gedit (a text editor which we found online).</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Created a file that is executable with Python3 ( passgen.py).</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Ran sudo gedit on passgen.py entered the script, saved and exited.</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Ran the script python3 passgen.py.</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We got our passwords along with the strength level as an output.</a:t>
            </a:r>
            <a:endParaRPr sz="150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Installation of Password Meter</a:t>
            </a:r>
            <a:endParaRPr/>
          </a:p>
        </p:txBody>
      </p:sp>
      <p:sp>
        <p:nvSpPr>
          <p:cNvPr id="153" name="Google Shape;153;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4" name="Google Shape;154;p16"/>
          <p:cNvPicPr preferRelativeResize="0"/>
          <p:nvPr/>
        </p:nvPicPr>
        <p:blipFill>
          <a:blip r:embed="rId3">
            <a:alphaModFix/>
          </a:blip>
          <a:stretch>
            <a:fillRect/>
          </a:stretch>
        </p:blipFill>
        <p:spPr>
          <a:xfrm>
            <a:off x="1579150" y="1567550"/>
            <a:ext cx="7091399" cy="3266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Python Version</a:t>
            </a:r>
            <a:endParaRPr/>
          </a:p>
        </p:txBody>
      </p:sp>
      <p:sp>
        <p:nvSpPr>
          <p:cNvPr id="160" name="Google Shape;160;p1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1" name="Google Shape;161;p17"/>
          <p:cNvPicPr preferRelativeResize="0"/>
          <p:nvPr/>
        </p:nvPicPr>
        <p:blipFill>
          <a:blip r:embed="rId3">
            <a:alphaModFix/>
          </a:blip>
          <a:stretch>
            <a:fillRect/>
          </a:stretch>
        </p:blipFill>
        <p:spPr>
          <a:xfrm>
            <a:off x="1421288" y="1662603"/>
            <a:ext cx="6791325" cy="1286425"/>
          </a:xfrm>
          <a:prstGeom prst="rect">
            <a:avLst/>
          </a:prstGeom>
          <a:noFill/>
          <a:ln>
            <a:noFill/>
          </a:ln>
        </p:spPr>
      </p:pic>
      <p:pic>
        <p:nvPicPr>
          <p:cNvPr id="162" name="Google Shape;162;p17"/>
          <p:cNvPicPr preferRelativeResize="0"/>
          <p:nvPr/>
        </p:nvPicPr>
        <p:blipFill>
          <a:blip r:embed="rId4">
            <a:alphaModFix/>
          </a:blip>
          <a:stretch>
            <a:fillRect/>
          </a:stretch>
        </p:blipFill>
        <p:spPr>
          <a:xfrm>
            <a:off x="1483125" y="3020049"/>
            <a:ext cx="6729475" cy="14100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8"/>
          <p:cNvSpPr txBox="1"/>
          <p:nvPr>
            <p:ph type="title"/>
          </p:nvPr>
        </p:nvSpPr>
        <p:spPr>
          <a:xfrm>
            <a:off x="1297500" y="393750"/>
            <a:ext cx="7038900" cy="502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Passgen Script</a:t>
            </a:r>
            <a:endParaRPr/>
          </a:p>
        </p:txBody>
      </p:sp>
      <p:sp>
        <p:nvSpPr>
          <p:cNvPr id="168" name="Google Shape;168;p18"/>
          <p:cNvSpPr txBox="1"/>
          <p:nvPr>
            <p:ph idx="1" type="body"/>
          </p:nvPr>
        </p:nvSpPr>
        <p:spPr>
          <a:xfrm>
            <a:off x="1297500" y="969625"/>
            <a:ext cx="7038900" cy="4057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9" name="Google Shape;169;p18"/>
          <p:cNvPicPr preferRelativeResize="0"/>
          <p:nvPr/>
        </p:nvPicPr>
        <p:blipFill>
          <a:blip r:embed="rId3">
            <a:alphaModFix/>
          </a:blip>
          <a:stretch>
            <a:fillRect/>
          </a:stretch>
        </p:blipFill>
        <p:spPr>
          <a:xfrm>
            <a:off x="1370750" y="1011950"/>
            <a:ext cx="5809450" cy="3862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Password Output with Strength Score</a:t>
            </a:r>
            <a:endParaRPr/>
          </a:p>
        </p:txBody>
      </p:sp>
      <p:sp>
        <p:nvSpPr>
          <p:cNvPr id="175" name="Google Shape;175;p19"/>
          <p:cNvSpPr txBox="1"/>
          <p:nvPr>
            <p:ph idx="1" type="body"/>
          </p:nvPr>
        </p:nvSpPr>
        <p:spPr>
          <a:xfrm>
            <a:off x="1244375" y="1372350"/>
            <a:ext cx="7092000" cy="3106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6" name="Google Shape;176;p19"/>
          <p:cNvPicPr preferRelativeResize="0"/>
          <p:nvPr/>
        </p:nvPicPr>
        <p:blipFill>
          <a:blip r:embed="rId3">
            <a:alphaModFix/>
          </a:blip>
          <a:stretch>
            <a:fillRect/>
          </a:stretch>
        </p:blipFill>
        <p:spPr>
          <a:xfrm>
            <a:off x="1329200" y="1408250"/>
            <a:ext cx="4564925" cy="2978150"/>
          </a:xfrm>
          <a:prstGeom prst="rect">
            <a:avLst/>
          </a:prstGeom>
          <a:noFill/>
          <a:ln>
            <a:noFill/>
          </a:ln>
        </p:spPr>
      </p:pic>
      <p:sp>
        <p:nvSpPr>
          <p:cNvPr id="177" name="Google Shape;177;p19"/>
          <p:cNvSpPr txBox="1"/>
          <p:nvPr/>
        </p:nvSpPr>
        <p:spPr>
          <a:xfrm>
            <a:off x="1195425" y="4543350"/>
            <a:ext cx="45648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latin typeface="Montserrat"/>
                <a:ea typeface="Montserrat"/>
                <a:cs typeface="Montserrat"/>
                <a:sym typeface="Montserrat"/>
              </a:rPr>
              <a:t>Our Baseline of 2 ,4 ,1 gives us a Consistent effective Flow of Strong Passwords.</a:t>
            </a:r>
            <a:endParaRPr sz="1100">
              <a:solidFill>
                <a:schemeClr val="lt1"/>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Presentation Summary</a:t>
            </a:r>
            <a:endParaRPr/>
          </a:p>
        </p:txBody>
      </p:sp>
      <p:sp>
        <p:nvSpPr>
          <p:cNvPr id="183" name="Google Shape;183;p20"/>
          <p:cNvSpPr txBox="1"/>
          <p:nvPr>
            <p:ph idx="1" type="body"/>
          </p:nvPr>
        </p:nvSpPr>
        <p:spPr>
          <a:xfrm>
            <a:off x="1297500" y="158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latin typeface="Roboto"/>
                <a:ea typeface="Roboto"/>
                <a:cs typeface="Roboto"/>
                <a:sym typeface="Roboto"/>
              </a:rPr>
              <a:t>In summary this Script is targeted for people in a Non-Technical background for simplicity and efficiency while not sacrificing the integrity of password security.</a:t>
            </a:r>
            <a:endParaRPr sz="1200">
              <a:latin typeface="Roboto"/>
              <a:ea typeface="Roboto"/>
              <a:cs typeface="Roboto"/>
              <a:sym typeface="Roboto"/>
            </a:endParaRPr>
          </a:p>
          <a:p>
            <a:pPr indent="0" lvl="0" marL="0" rtl="0" algn="l">
              <a:spcBef>
                <a:spcPts val="0"/>
              </a:spcBef>
              <a:spcAft>
                <a:spcPts val="0"/>
              </a:spcAft>
              <a:buNone/>
            </a:pPr>
            <a:r>
              <a:t/>
            </a:r>
            <a:endParaRPr sz="1200">
              <a:latin typeface="Roboto"/>
              <a:ea typeface="Roboto"/>
              <a:cs typeface="Roboto"/>
              <a:sym typeface="Roboto"/>
            </a:endParaRPr>
          </a:p>
          <a:p>
            <a:pPr indent="0" lvl="0" marL="0" rtl="0" algn="l">
              <a:spcBef>
                <a:spcPts val="0"/>
              </a:spcBef>
              <a:spcAft>
                <a:spcPts val="0"/>
              </a:spcAft>
              <a:buNone/>
            </a:pPr>
            <a:r>
              <a:rPr lang="en" sz="1200">
                <a:latin typeface="Roboto"/>
                <a:ea typeface="Roboto"/>
                <a:cs typeface="Roboto"/>
                <a:sym typeface="Roboto"/>
              </a:rPr>
              <a:t>This will also help companies implement a standard to enhance password strength across multiple departments.  N</a:t>
            </a:r>
            <a:r>
              <a:rPr lang="en" sz="1200">
                <a:highlight>
                  <a:schemeClr val="dk1"/>
                </a:highlight>
                <a:latin typeface="Roboto"/>
                <a:ea typeface="Roboto"/>
                <a:cs typeface="Roboto"/>
                <a:sym typeface="Roboto"/>
              </a:rPr>
              <a:t>umerous class activities/assignments and CTF required us to exploit vulnerabilities with weak passwords which granted unauthorised login and privilege escalation depending on the user profile that was compromised.  </a:t>
            </a:r>
            <a:endParaRPr sz="1200">
              <a:highlight>
                <a:schemeClr val="dk1"/>
              </a:highlight>
              <a:latin typeface="Roboto"/>
              <a:ea typeface="Roboto"/>
              <a:cs typeface="Roboto"/>
              <a:sym typeface="Roboto"/>
            </a:endParaRPr>
          </a:p>
          <a:p>
            <a:pPr indent="0" lvl="0" marL="0" rtl="0" algn="l">
              <a:spcBef>
                <a:spcPts val="0"/>
              </a:spcBef>
              <a:spcAft>
                <a:spcPts val="0"/>
              </a:spcAft>
              <a:buNone/>
            </a:pPr>
            <a:r>
              <a:t/>
            </a:r>
            <a:endParaRPr sz="1200">
              <a:latin typeface="Roboto"/>
              <a:ea typeface="Roboto"/>
              <a:cs typeface="Roboto"/>
              <a:sym typeface="Roboto"/>
            </a:endParaRPr>
          </a:p>
          <a:p>
            <a:pPr indent="0" lvl="0" marL="0" rtl="0" algn="l">
              <a:spcBef>
                <a:spcPts val="0"/>
              </a:spcBef>
              <a:spcAft>
                <a:spcPts val="0"/>
              </a:spcAft>
              <a:buNone/>
            </a:pPr>
            <a:r>
              <a:rPr lang="en" sz="1200">
                <a:latin typeface="Roboto"/>
                <a:ea typeface="Roboto"/>
                <a:cs typeface="Roboto"/>
                <a:sym typeface="Roboto"/>
              </a:rPr>
              <a:t>Also as per the demonstration, we changed the variables for creating the password and concluded that once the password contained all 3 characteristics and  standard of 2 words,4 numbers and 1 special character; anything more than that did not </a:t>
            </a:r>
            <a:r>
              <a:rPr lang="en" sz="1200">
                <a:latin typeface="Roboto"/>
                <a:ea typeface="Roboto"/>
                <a:cs typeface="Roboto"/>
                <a:sym typeface="Roboto"/>
              </a:rPr>
              <a:t>significantly</a:t>
            </a:r>
            <a:r>
              <a:rPr lang="en" sz="1200">
                <a:latin typeface="Roboto"/>
                <a:ea typeface="Roboto"/>
                <a:cs typeface="Roboto"/>
                <a:sym typeface="Roboto"/>
              </a:rPr>
              <a:t> increase the </a:t>
            </a:r>
            <a:r>
              <a:rPr lang="en" sz="1200">
                <a:solidFill>
                  <a:srgbClr val="0D0D0D"/>
                </a:solidFill>
                <a:highlight>
                  <a:srgbClr val="FFFFFF"/>
                </a:highlight>
                <a:latin typeface="Roboto"/>
                <a:ea typeface="Roboto"/>
                <a:cs typeface="Roboto"/>
                <a:sym typeface="Roboto"/>
              </a:rPr>
              <a:t> </a:t>
            </a:r>
            <a:r>
              <a:rPr lang="en" sz="1200">
                <a:latin typeface="Roboto"/>
                <a:ea typeface="Roboto"/>
                <a:cs typeface="Roboto"/>
                <a:sym typeface="Roboto"/>
              </a:rPr>
              <a:t>strength</a:t>
            </a:r>
            <a:r>
              <a:rPr lang="en" sz="1200">
                <a:latin typeface="Roboto"/>
                <a:ea typeface="Roboto"/>
                <a:cs typeface="Roboto"/>
                <a:sym typeface="Roboto"/>
              </a:rPr>
              <a:t>. </a:t>
            </a:r>
            <a:endParaRPr/>
          </a:p>
        </p:txBody>
      </p:sp>
      <p:sp>
        <p:nvSpPr>
          <p:cNvPr id="184" name="Google Shape;184;p20"/>
          <p:cNvSpPr txBox="1"/>
          <p:nvPr/>
        </p:nvSpPr>
        <p:spPr>
          <a:xfrm>
            <a:off x="4656400" y="3128550"/>
            <a:ext cx="26700" cy="6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lt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1"/>
          <p:cNvSpPr txBox="1"/>
          <p:nvPr>
            <p:ph type="title"/>
          </p:nvPr>
        </p:nvSpPr>
        <p:spPr>
          <a:xfrm>
            <a:off x="1297500" y="4699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Credits</a:t>
            </a:r>
            <a:endParaRPr/>
          </a:p>
        </p:txBody>
      </p:sp>
      <p:sp>
        <p:nvSpPr>
          <p:cNvPr id="190" name="Google Shape;190;p21"/>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5600"/>
              <a:t>Project Idea:  </a:t>
            </a:r>
            <a:r>
              <a:rPr lang="en" sz="5600" u="sng">
                <a:solidFill>
                  <a:schemeClr val="hlink"/>
                </a:solidFill>
                <a:hlinkClick r:id="rId3"/>
              </a:rPr>
              <a:t>https://cybercademy.org/beginner-projects/</a:t>
            </a:r>
            <a:r>
              <a:rPr lang="en" sz="5600"/>
              <a:t> </a:t>
            </a:r>
            <a:br>
              <a:rPr lang="en" sz="5600"/>
            </a:br>
            <a:br>
              <a:rPr lang="en" sz="5600"/>
            </a:br>
            <a:r>
              <a:rPr lang="en" sz="5600"/>
              <a:t>Password Meter: </a:t>
            </a:r>
            <a:r>
              <a:rPr lang="en" sz="5950" u="sng">
                <a:solidFill>
                  <a:schemeClr val="hlink"/>
                </a:solidFill>
                <a:highlight>
                  <a:srgbClr val="222529"/>
                </a:highlight>
                <a:latin typeface="Arial"/>
                <a:ea typeface="Arial"/>
                <a:cs typeface="Arial"/>
                <a:sym typeface="Arial"/>
                <a:hlinkClick r:id="rId4"/>
              </a:rPr>
              <a:t>https://github.com/cadithealth/passwordmeter</a:t>
            </a:r>
            <a:br>
              <a:rPr lang="en" sz="5600"/>
            </a:br>
            <a:br>
              <a:rPr lang="en" sz="5600"/>
            </a:br>
            <a:r>
              <a:rPr lang="en" sz="5600"/>
              <a:t>Youtube Guides:</a:t>
            </a:r>
            <a:r>
              <a:rPr lang="en" sz="5550" u="sng">
                <a:solidFill>
                  <a:schemeClr val="hlink"/>
                </a:solidFill>
                <a:highlight>
                  <a:srgbClr val="222529"/>
                </a:highlight>
                <a:latin typeface="Arial"/>
                <a:ea typeface="Arial"/>
                <a:cs typeface="Arial"/>
                <a:sym typeface="Arial"/>
                <a:hlinkClick r:id="rId5"/>
              </a:rPr>
              <a:t>https://www.youtube.com/watch?v=-C5g4J7iCj8</a:t>
            </a:r>
            <a:br>
              <a:rPr lang="en" sz="5600"/>
            </a:br>
            <a:br>
              <a:rPr lang="en" sz="5600"/>
            </a:br>
            <a:r>
              <a:rPr lang="en" sz="5600"/>
              <a:t>Research Materials: </a:t>
            </a:r>
            <a:br>
              <a:rPr lang="en" sz="5600"/>
            </a:br>
            <a:r>
              <a:rPr lang="en" sz="5600" u="sng">
                <a:solidFill>
                  <a:schemeClr val="hlink"/>
                </a:solidFill>
                <a:hlinkClick r:id="rId6"/>
              </a:rPr>
              <a:t>https://www.verizon.com/business/en-nl/resources/reports/dbir/</a:t>
            </a:r>
            <a:endParaRPr sz="5600"/>
          </a:p>
          <a:p>
            <a:pPr indent="0" lvl="0" marL="0" rtl="0" algn="l">
              <a:spcBef>
                <a:spcPts val="1200"/>
              </a:spcBef>
              <a:spcAft>
                <a:spcPts val="0"/>
              </a:spcAft>
              <a:buNone/>
            </a:pPr>
            <a:br>
              <a:rPr lang="en" sz="5600"/>
            </a:br>
            <a:r>
              <a:rPr lang="en" sz="5600" u="sng">
                <a:solidFill>
                  <a:schemeClr val="hlink"/>
                </a:solidFill>
                <a:hlinkClick r:id="rId7"/>
              </a:rPr>
              <a:t>https://www.datacamp.com/blog/python-2-vs-3-everything-you-need-to-know</a:t>
            </a:r>
            <a:endParaRPr sz="5600"/>
          </a:p>
          <a:p>
            <a:pPr indent="0" lvl="0" marL="0" rtl="0" algn="l">
              <a:spcBef>
                <a:spcPts val="1200"/>
              </a:spcBef>
              <a:spcAft>
                <a:spcPts val="0"/>
              </a:spcAft>
              <a:buNone/>
            </a:pPr>
            <a:br>
              <a:rPr lang="en" sz="5600"/>
            </a:br>
            <a:r>
              <a:rPr lang="en" sz="5600" u="sng">
                <a:solidFill>
                  <a:schemeClr val="hlink"/>
                </a:solidFill>
                <a:hlinkClick r:id="rId8"/>
              </a:rPr>
              <a:t>https://www.sciencedirect.com/science/article/abs/pii/S2214212618305027</a:t>
            </a:r>
            <a:endParaRPr sz="5600" u="sng">
              <a:solidFill>
                <a:schemeClr val="hlink"/>
              </a:solidFill>
              <a:hlinkClick r:id="rId9"/>
            </a:endParaRPr>
          </a:p>
          <a:p>
            <a:pPr indent="0" lvl="0" marL="0" rtl="0" algn="l">
              <a:spcBef>
                <a:spcPts val="1200"/>
              </a:spcBef>
              <a:spcAft>
                <a:spcPts val="0"/>
              </a:spcAft>
              <a:buNone/>
            </a:pPr>
            <a:r>
              <a:t/>
            </a:r>
            <a:endParaRPr sz="3500" u="sng">
              <a:solidFill>
                <a:schemeClr val="hlink"/>
              </a:solidFill>
              <a:hlinkClick r:id="rId10"/>
            </a:endParaRPr>
          </a:p>
          <a:p>
            <a:pPr indent="0" lvl="0" marL="0" rtl="0" algn="l">
              <a:spcBef>
                <a:spcPts val="1200"/>
              </a:spcBef>
              <a:spcAft>
                <a:spcPts val="0"/>
              </a:spcAft>
              <a:buNone/>
            </a:pPr>
            <a:r>
              <a:t/>
            </a:r>
            <a:endParaRPr u="sng">
              <a:solidFill>
                <a:schemeClr val="hlink"/>
              </a:solidFill>
              <a:hlinkClick r:id="rId11"/>
            </a:endParaRPr>
          </a:p>
          <a:p>
            <a:pPr indent="0" lvl="0" marL="0" rtl="0" algn="l">
              <a:spcBef>
                <a:spcPts val="1200"/>
              </a:spcBef>
              <a:spcAft>
                <a:spcPts val="0"/>
              </a:spcAft>
              <a:buNone/>
            </a:pPr>
            <a:r>
              <a:t/>
            </a:r>
            <a:endParaRPr u="sng">
              <a:solidFill>
                <a:schemeClr val="hlink"/>
              </a:solidFill>
              <a:hlinkClick r:id="rId12"/>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